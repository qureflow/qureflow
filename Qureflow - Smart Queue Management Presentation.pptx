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832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35510"/>
            <a:ext cx="5200650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IN" sz="4800" b="1" err="1">
                <a:solidFill>
                  <a:srgbClr val="F3F0DF"/>
                </a:solidFill>
                <a:latin typeface="Merriweather"/>
              </a:rPr>
              <a:t>QureFlow</a:t>
            </a:r>
            <a:endParaRPr sz="4800" b="1" i="0" u="none">
              <a:solidFill>
                <a:srgbClr val="F3F0DF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345711"/>
            <a:ext cx="4953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100" b="1" i="0" u="none">
                <a:solidFill>
                  <a:srgbClr val="11CAA0"/>
                </a:solidFill>
                <a:latin typeface="DM Sans"/>
              </a:rPr>
              <a:t>Smart Queue Management for Rural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70636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500" b="0" i="0" u="none">
                <a:solidFill>
                  <a:srgbClr val="E2E8F0"/>
                </a:solidFill>
                <a:latin typeface="DM Sans"/>
              </a:rPr>
              <a:t>Revolutionizing patient flow, reducing wait times, and bringing clarity to healthcare facilities using robust AWS cloud technology.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8E0AFF-9DC0-B1B3-26FD-523539438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488" y="0"/>
            <a:ext cx="1541192" cy="1435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5B346F-C652-DBC3-BFFE-F15EAA3DAEB9}"/>
              </a:ext>
            </a:extLst>
          </p:cNvPr>
          <p:cNvSpPr txBox="1"/>
          <p:nvPr/>
        </p:nvSpPr>
        <p:spPr>
          <a:xfrm>
            <a:off x="571500" y="5240593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rgbClr val="FFFF00"/>
                </a:solidFill>
              </a:rPr>
              <a:t>Founders :</a:t>
            </a:r>
          </a:p>
          <a:p>
            <a:r>
              <a:rPr lang="en-IN" sz="1500" err="1">
                <a:solidFill>
                  <a:srgbClr val="FFFF00"/>
                </a:solidFill>
              </a:rPr>
              <a:t>Kartikay</a:t>
            </a:r>
            <a:r>
              <a:rPr lang="en-IN" sz="1500">
                <a:solidFill>
                  <a:srgbClr val="FFFF00"/>
                </a:solidFill>
              </a:rPr>
              <a:t> Gupta (24BCI0109)</a:t>
            </a:r>
          </a:p>
          <a:p>
            <a:r>
              <a:rPr lang="en-IN" sz="1500" err="1">
                <a:solidFill>
                  <a:srgbClr val="FFFF00"/>
                </a:solidFill>
              </a:rPr>
              <a:t>Sreyanko</a:t>
            </a:r>
            <a:r>
              <a:rPr lang="en-IN" sz="1500">
                <a:solidFill>
                  <a:srgbClr val="FFFF00"/>
                </a:solidFill>
              </a:rPr>
              <a:t> Sinha (24BCB0059)</a:t>
            </a:r>
          </a:p>
          <a:p>
            <a:r>
              <a:rPr lang="en-IN" sz="1500">
                <a:solidFill>
                  <a:srgbClr val="FFFF00"/>
                </a:solidFill>
              </a:rPr>
              <a:t>Shaurya </a:t>
            </a:r>
            <a:r>
              <a:rPr lang="en-IN" sz="1500" err="1">
                <a:solidFill>
                  <a:srgbClr val="FFFF00"/>
                </a:solidFill>
              </a:rPr>
              <a:t>Samitkumar</a:t>
            </a:r>
            <a:r>
              <a:rPr lang="en-IN" sz="1500">
                <a:solidFill>
                  <a:srgbClr val="FFFF00"/>
                </a:solidFill>
              </a:rPr>
              <a:t> Shah (24BCI0095</a:t>
            </a:r>
            <a:r>
              <a:rPr lang="en-IN" sz="1300">
                <a:solidFill>
                  <a:srgbClr val="FFFF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85157"/>
            <a:ext cx="5286375" cy="23449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685157"/>
            <a:ext cx="5286375" cy="2344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The Rural Healthcare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66157"/>
            <a:ext cx="47505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Unpredictable Wait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551932"/>
            <a:ext cx="4524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Patients in rural areas frequently travel long distances only to face severe overcrowding and highly unpredictable waiting periods, leading to dissatisfaction and health risks.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3066157"/>
            <a:ext cx="47505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Resource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551932"/>
            <a:ext cx="4524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Clinics struggle with manual token systems. Without real-time tracking, administrative bottlenecks form, preventing doctors from focusing entirely on patient care.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6C6CB5-3D01-9ACF-6A68-72E19EF17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Introducing QureFlow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2028825"/>
            <a:ext cx="1152525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2691854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Seamless Patient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177629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Qureflow is a cloud-based smart queue management system specifically tailored for the unique challenges of rural healthcare facilities. By migrating from manual ledgers to an automated, digital token process, we eliminate chaos.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47481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The platform orchestrates coordination seamlessly between patients, doctors, and healthcare workers.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D1020C-D6F7-FDC1-19AD-1A82DBCF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7" y="1824662"/>
            <a:ext cx="4083076" cy="38030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A0D09-705C-E19A-9238-49DE8EAAA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750" y="1938337"/>
            <a:ext cx="7810500" cy="2400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sz="3375" b="0" i="0" u="none">
                <a:solidFill>
                  <a:srgbClr val="F3F0DF"/>
                </a:solidFill>
                <a:latin typeface="Merriweather"/>
              </a:rPr>
              <a:t>Our mission is to democratize healthcare access by ensuring no patient in a rural setting loses critical time waiting in unmanaged queues.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5375" y="5248274"/>
            <a:ext cx="2381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latin typeface="Merriweather"/>
              </a:rPr>
              <a:t>The QureFlow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9250" y="2319337"/>
            <a:ext cx="561975" cy="143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1CAA0"/>
                </a:solidFill>
                <a:latin typeface="Merriweather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0775" y="4529137"/>
            <a:ext cx="561975" cy="143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1CAA0"/>
                </a:solidFill>
                <a:latin typeface="Merriweather"/>
              </a:rPr>
              <a:t>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6E3E7-B793-3091-4170-643E7D9B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832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1769"/>
            <a:ext cx="3429000" cy="32117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251769"/>
            <a:ext cx="3429000" cy="3211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251769"/>
            <a:ext cx="3429000" cy="3211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Connecting the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85319"/>
            <a:ext cx="28575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Empowered with remote queue joining and real-time token tracking to optimize their arrival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Provided with clear visibility of pending appointments and the ability to focus solely on consultations.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Health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0" y="3985319"/>
            <a:ext cx="28575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Equipped with tools for streamlined administrative control, emergency triage, and clinic management.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2" y="2689919"/>
            <a:ext cx="600075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2689919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300" y="2689919"/>
            <a:ext cx="533400" cy="476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0AAAAB-2B20-B505-19B1-B4271CAF6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7352"/>
            <a:ext cx="3429000" cy="2381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917352"/>
            <a:ext cx="342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917352"/>
            <a:ext cx="3429000" cy="2381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Core System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4489102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Cloud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74877"/>
            <a:ext cx="3429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Reliable and scalable AWS backend ensures 99.9% uptime for remote clinics.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775" y="4489102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Mobile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0" y="4974877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Accessible interfaces designed for standard smartphones prevalent in rural demographics.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5775" y="4489102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Real-Time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4974877"/>
            <a:ext cx="3429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Instantaneous updates on queue shifts and delays across all user endpoints.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7352"/>
            <a:ext cx="3429000" cy="2381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17352"/>
            <a:ext cx="3429000" cy="2381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17352"/>
            <a:ext cx="3429000" cy="2381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2CB3A6-3C85-EFAF-8DA1-FD365264C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Remote Queue Joining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52625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Wait from Home, Not the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38400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Qureflow enables patients to join a clinic's queue remotely from their devices. This drastically reduces physical overcrowding at the healthcare facility.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6129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Patients receive a digital token and are only required to travel when their appointment is imminent, preventing the spread of communicable diseases in crowded waiting rooms.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DD8D60-E7E4-515D-C02C-47C0442F0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3F0DF"/>
                </a:solidFill>
                <a:latin typeface="Merriweather"/>
              </a:rPr>
              <a:t>Impact of Real-Time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71787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11CAA0"/>
                </a:solidFill>
                <a:latin typeface="Merriweather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91037"/>
            <a:ext cx="528637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3F0DF"/>
                </a:solidFill>
                <a:latin typeface="DM Sans"/>
              </a:rPr>
              <a:t>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3203227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3F0DF"/>
                </a:solidFill>
                <a:latin typeface="Merriweather"/>
              </a:rPr>
              <a:t>Minimizing Physical Wait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689002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DM Sans"/>
              </a:rPr>
              <a:t>By implementing real-time token updates, clinics utilizing Qureflow experience a massive drop in physical waiting times, vastly improving the patient experience and clinic operational efficiency.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2F146-1689-F29D-705E-6581C30B6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2730"/>
            <a:ext cx="5286375" cy="943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Algorithmic Estimated Wait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52625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1">
                <a:latin typeface="Merriweather"/>
              </a:rPr>
              <a:t>Dynamic Waiting Time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3840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latin typeface="DM Sans"/>
              </a:rPr>
              <a:t>QureFlow calculates live Estimated Wait Time (EWT) per patient using the dynamic throughput formula: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66597"/>
            <a:ext cx="5286375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100" b="1">
                <a:latin typeface="DM Sans"/>
              </a:rPr>
              <a:t>- t_active * p_active: </a:t>
            </a:r>
            <a:r>
              <a:rPr sz="1100" b="0">
                <a:latin typeface="DM Sans"/>
              </a:rPr>
              <a:t>Remaining active consultation time (if doctor is serving, p_active=1; else 0).</a:t>
            </a:r>
          </a:p>
          <a:p>
            <a:pPr>
              <a:spcAft>
                <a:spcPts val="400"/>
              </a:spcAft>
            </a:pPr>
            <a:r>
              <a:rPr sz="1100" b="1">
                <a:latin typeface="DM Sans"/>
              </a:rPr>
              <a:t>- (p - 1) * t_avg: </a:t>
            </a:r>
            <a:r>
              <a:rPr sz="1100" b="0">
                <a:latin typeface="DM Sans"/>
              </a:rPr>
              <a:t>Waiting load ahead (p patients ahead) multiplied by average consultation duration (10 min).</a:t>
            </a:r>
          </a:p>
          <a:p>
            <a:pPr>
              <a:spcAft>
                <a:spcPts val="400"/>
              </a:spcAft>
            </a:pPr>
            <a:r>
              <a:rPr sz="1100" b="1">
                <a:latin typeface="DM Sans"/>
              </a:rPr>
              <a:t>- buffer: </a:t>
            </a:r>
            <a:r>
              <a:rPr sz="1100" b="0">
                <a:latin typeface="DM Sans"/>
              </a:rPr>
              <a:t>Transit and sanitization overhead added per patient visit (2 min).</a:t>
            </a:r>
          </a:p>
          <a:p>
            <a:pPr>
              <a:spcAft>
                <a:spcPts val="400"/>
              </a:spcAft>
            </a:pPr>
            <a:r>
              <a:rPr sz="1100" b="1">
                <a:latin typeface="DM Sans"/>
              </a:rPr>
              <a:t>- Dynamic Slot Saturation: </a:t>
            </a:r>
            <a:r>
              <a:rPr sz="1100" b="0">
                <a:latin typeface="DM Sans"/>
              </a:rPr>
              <a:t>Live booking shows exact queue depth ("2 ahead, ~14m"). If EWT &gt;= slot duration (30 min), the slot dynamically marks "Slot Full" to prevent clinic congestion.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" y="3496103"/>
            <a:ext cx="4652010" cy="497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E2BD-23D4-C70F-3F97-458B78AD3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Emergency Prioritization (Triage)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216217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Critical Bypass Mechanism: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Healthcare workers can override standard queues to push emergency cases to the front, updating all other tokens instantly.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00990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Automated Notifications: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If a queue is paused or delayed due to a severe triage case, awaiting patients receive an automatic status update on their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5762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Severity Flags: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Medical staff can categorize the urgency of patients during registration to allow algorithms to suggest optimal slot placements.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70535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Ethical Care Delivery: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Ensures that standard queue management does not impede life-saving, immediate medical interventions.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195512"/>
            <a:ext cx="33337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43237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890962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738687"/>
            <a:ext cx="266700" cy="276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A5FC0B-346A-5158-41B8-EA57B2243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832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74885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55507" y="3091755"/>
            <a:ext cx="7880985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3F0DF"/>
                </a:solidFill>
                <a:latin typeface="Merriweather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862" y="4120455"/>
            <a:ext cx="4486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DM Sans"/>
              </a:rPr>
              <a:t>A robust, scalable, and secure backend powered by AWS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996CB-6114-8211-01A9-D89A79EF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1769"/>
            <a:ext cx="3429000" cy="32117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251769"/>
            <a:ext cx="3429000" cy="3211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251769"/>
            <a:ext cx="3429000" cy="3211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AWS Service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latin typeface="Merriweather"/>
              </a:rPr>
              <a:t>AWS Compute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High-throughput Node.js microservices executing dynamic wait time algorithms, slot capacity guards, and concurrency 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latin typeface="Merriweather"/>
              </a:rPr>
              <a:t>AWS DynamoDB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Single-Table NoSQL architecture (QureFlow-Main) with atomic counters and GSIs delivering sub-10ms queries for live queue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latin typeface="Merriweather"/>
              </a:rPr>
              <a:t>Cognito &amp; Cellular 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Enterprise identity with JWT Role-Based Access Control (RBAC), paired with Fast2SMS cellular dispatch for offline rural patients.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2" y="2689919"/>
            <a:ext cx="600075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2689919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450" y="2689919"/>
            <a:ext cx="419100" cy="476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4ECEF2-89AA-626E-6470-4F118DA63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Core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2200275"/>
            <a:ext cx="11049000" cy="331455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012988"/>
              </p:ext>
            </p:extLst>
          </p:nvPr>
        </p:nvGraphicFramePr>
        <p:xfrm>
          <a:off x="571500" y="2200275"/>
          <a:ext cx="11048998" cy="3314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2">
                              <a:lumMod val="75000"/>
                            </a:schemeClr>
                          </a:solidFill>
                          <a:latin typeface="DM Sans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2">
                              <a:lumMod val="75000"/>
                            </a:schemeClr>
                          </a:solidFill>
                          <a:latin typeface="DM Sans"/>
                        </a:rPr>
                        <a:t>Technology / 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2">
                              <a:lumMod val="75000"/>
                            </a:schemeClr>
                          </a:solidFill>
                          <a:latin typeface="DM Sans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10">
                <a:tc>
                  <a:txBody>
                    <a:bodyPr/>
                    <a:lstStyle/>
                    <a:p>
                      <a:r>
                        <a:rPr sz="1300" b="1">
                          <a:latin typeface="DM Sans"/>
                        </a:rPr>
                        <a:t>Frontend &amp;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React 18 &amp; Tailwind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Responsive mobile-first client, dynamic slot capacity pickers, and real-time wait displays.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10">
                <a:tc>
                  <a:txBody>
                    <a:bodyPr/>
                    <a:lstStyle/>
                    <a:p>
                      <a:r>
                        <a:rPr sz="1300" b="1">
                          <a:latin typeface="DM Sans"/>
                        </a:rPr>
                        <a:t>Backend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Node.js &amp; Express (TypeScript)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High-concurrency RESTful engine for EWT calculations, slot locks, and triage routing.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10">
                <a:tc>
                  <a:txBody>
                    <a:bodyPr/>
                    <a:lstStyle/>
                    <a:p>
                      <a:r>
                        <a:rPr sz="1300" b="1">
                          <a:latin typeface="DM Sans"/>
                        </a:rPr>
                        <a:t>Database &amp;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AWS DynamoDB (Single-Table)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Unified schema (PK/SK), GSI1/2/3 indexing, and atomic FIFO token counter serialization.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11">
                <a:tc>
                  <a:txBody>
                    <a:bodyPr/>
                    <a:lstStyle/>
                    <a:p>
                      <a:r>
                        <a:rPr sz="1300" b="1">
                          <a:latin typeface="DM Sans"/>
                        </a:rPr>
                        <a:t>Auth &amp; Cellular SMS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AWS Cognito &amp; Fast2SMS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DM Sans"/>
                        </a:rPr>
                        <a:t>Enterprise JWT role-based access control paired with cellular SMS alerts for rural patients.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850802"/>
            <a:ext cx="17709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42405" y="2850802"/>
            <a:ext cx="2292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34805" y="2850802"/>
            <a:ext cx="6985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515617"/>
            <a:ext cx="17709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42405" y="3515617"/>
            <a:ext cx="2292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34805" y="3515617"/>
            <a:ext cx="6985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180433"/>
            <a:ext cx="17709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42405" y="4180433"/>
            <a:ext cx="2292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34805" y="4180433"/>
            <a:ext cx="6985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845248"/>
            <a:ext cx="17709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42405" y="4845248"/>
            <a:ext cx="2292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34805" y="4845248"/>
            <a:ext cx="6985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A9DFE8-46BC-EEE2-963C-355F50DF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47937"/>
            <a:ext cx="5286375" cy="261922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547937"/>
            <a:ext cx="5286375" cy="25451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3F0DF"/>
                </a:solidFill>
                <a:latin typeface="Merriweather"/>
              </a:rPr>
              <a:t>Security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28937"/>
            <a:ext cx="475059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latin typeface="Merriweather"/>
              </a:rPr>
              <a:t>AWS Cognito &amp; JWT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414712"/>
            <a:ext cx="4524375" cy="1389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00">
                <a:latin typeface="DM Sans"/>
              </a:rPr>
              <a:t>QureFlow integrates authService with AWS Cognito and secure JWT token validation. Patient records, phone numbers, and consultation histories are encrypted in-transit (TLS 1.3) and at-rest.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2983052"/>
            <a:ext cx="475059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latin typeface="Merriweather"/>
              </a:rPr>
              <a:t>Role-Based Access Control (RBAC)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431338"/>
            <a:ext cx="4524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00">
                <a:latin typeface="DM Sans"/>
              </a:rPr>
              <a:t>Strict API route guards enforce granular permissions across Patients, Doctors, and Clinic Health Workers. DynamoDB conditional writes prevent double-booking and unauthorized queue modifications.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AE657-D293-3431-2843-BFAA7EF23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2" y="1952625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Scalable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28925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latin typeface="Merriweather"/>
              </a:rPr>
              <a:t>DynamoDB Single-Table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1470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00">
                <a:latin typeface="DM Sans"/>
              </a:rPr>
              <a:t>The platform implements a unified Single-Table pattern (QureFlow-Main) via dynamoDbRepo.ts. Global Secondary Indexes (GSI1 for clinic schedules, GSI2 for active queues, GSI3 for emergency triage) eliminate slow table scans.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6330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00">
                <a:latin typeface="DM Sans"/>
              </a:rPr>
              <a:t>Atomic counters (ADD currentNumber 1) guarantee race-condition-free token generation under heavy concurrent booking loads, delivering sub-10ms latency with zero deadlocks.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512" y="2028825"/>
            <a:ext cx="365760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2F4865-A0BC-0F9C-DC93-E9B552070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The Patient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3829050"/>
            <a:ext cx="11049000" cy="57150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733" y="4238625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Mobile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24400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Patient registers or logs in via phone number OTP, verified through AWS Cognito / JWT.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167979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Smart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653754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Selects clinic slot showing live load ("X ahead, ~Ym") with automated "Slot Full" guard.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238625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Live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724400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Monitors real-time EWT countdown, token position, and receives cellular SMS reminders.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167979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Prompt Consult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653754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Arrives just-in-time when called, completely bypassing crowded waiting rooms.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521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7891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90571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A7089F-1F0F-2A08-3CDC-313790042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3F0DF"/>
                </a:solidFill>
                <a:latin typeface="Merriweather"/>
              </a:rPr>
              <a:t>The Doctor &amp; Worker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3829050"/>
            <a:ext cx="11049000" cy="57150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733" y="4238625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Shift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24400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Doctor / Health worker launches daily clinic console and activates live queue reception.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167979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Load &amp;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653754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Monitors patient load and flags emergencies for instant top-of-queue bypass via GSI3.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238625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Active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724400"/>
            <a:ext cx="24306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Conducts consultation with live elapsed timer, patient vitals, and diagnostic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1893689"/>
            <a:ext cx="25521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Merriweather"/>
              </a:rPr>
              <a:t>Token Chime &amp;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379464"/>
            <a:ext cx="243066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00">
                <a:latin typeface="DM Sans"/>
              </a:rPr>
              <a:t>Marks visit complete; system triggers automated chime sound and summons the next 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005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521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005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7891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005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90571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57150">
            <a:solidFill>
              <a:srgbClr val="005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B4BD10-A040-2C8B-556D-BA952BE56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1769"/>
            <a:ext cx="3429000" cy="32117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251769"/>
            <a:ext cx="3429000" cy="3211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251769"/>
            <a:ext cx="3429000" cy="3211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Clinic Administration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Clinic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Register new rural healthcare facilities, manage locations, operating hours, and general capacity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Doctor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3985319"/>
            <a:ext cx="2857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Link medical professionals to specific clinics, define their specialties, and set their active shifts.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5812" y="3499544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5088"/>
                </a:solidFill>
                <a:latin typeface="Merriweather"/>
              </a:rP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0" y="3985319"/>
            <a:ext cx="28575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DM Sans"/>
              </a:rPr>
              <a:t>Review historical data on peak hours and average consultation times to optimize future scheduling.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2689919"/>
            <a:ext cx="53340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2689919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75" y="2689919"/>
            <a:ext cx="476250" cy="476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CF1A3B-2E34-D929-E342-6FC0EC7D0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74885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15602" y="3091755"/>
            <a:ext cx="6360795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3F0DF"/>
                </a:solidFill>
                <a:latin typeface="Merriweather"/>
              </a:rPr>
              <a:t>Healthcare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5350" y="4120455"/>
            <a:ext cx="2781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DM Sans"/>
              </a:rPr>
              <a:t>Measuring the success of Qureflow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695500-4DCA-9568-F4A7-ED29F8915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32" y="1428750"/>
            <a:ext cx="11049000" cy="4857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In-Clinic Wait Times (Minutes)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4062" y="4911030"/>
            <a:ext cx="81438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333333"/>
                </a:solidFill>
                <a:latin typeface="DM Sans"/>
              </a:rPr>
              <a:t>Qureflow drastically reduces physical wait time, outperforming traditional ledger systems by over 80%.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949B7-3EAE-6B59-2679-D46822A5D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8750"/>
            <a:ext cx="11049000" cy="4857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Post-Deployment Patient Satisfaction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441D0-5E51-FB7D-70ED-8C642DA1F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428750"/>
            <a:ext cx="9944100" cy="4857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3F0DF"/>
                </a:solidFill>
                <a:latin typeface="Merriweather"/>
              </a:rPr>
              <a:t>Projected Clinic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8987" y="5555902"/>
            <a:ext cx="55340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DM Sans"/>
              </a:rPr>
              <a:t>Exponential growth in platform adoption across rural health networks.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E2F53-858D-5625-A44C-E276CA59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Strategic Advantages of Qureflow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216217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Zero On-Premise Infrastructure: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Entirely cloud-hosted via AWS, requiring zero hardware investment from resource-strapped rural clinics.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00990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BYOD (Bring Your Own Device):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Operates flawlessly on existing smartphones owned by patients and healthcare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5762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Rapid Deployment: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New clinics can be onboarded, configured, and operational within hours, rather than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70535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5088"/>
                </a:solidFill>
                <a:latin typeface="DM Sans"/>
              </a:rPr>
              <a:t>Sustainable Practice:</a:t>
            </a:r>
            <a:r>
              <a:rPr sz="1500" b="0" i="0" u="none">
                <a:solidFill>
                  <a:srgbClr val="333333"/>
                </a:solidFill>
                <a:latin typeface="DM Sans"/>
              </a:rPr>
              <a:t> Eliminates paper waste from ledgers and physical tokens while reducing the carbon footprint of unnecessary travel and idling.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195512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43237"/>
            <a:ext cx="2000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890962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738687"/>
            <a:ext cx="266700" cy="276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2CF91E-8C65-A230-68EB-162C76C18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71500"/>
            <a:ext cx="7620000" cy="2186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95575" y="1143000"/>
            <a:ext cx="68008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3F0DF"/>
                </a:solidFill>
                <a:latin typeface="Merriweather"/>
              </a:rPr>
              <a:t>A Healthier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1638300"/>
            <a:ext cx="6477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F3F0DF"/>
                </a:solidFill>
                <a:latin typeface="DM Sans"/>
              </a:rPr>
              <a:t>Qureflow is more than a queue management tool; it is a vital bridge connecting rural patients to the healthcare they deserve, without the burden of the wait.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8430B-92B9-C1EC-F0B3-99C02DD1E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0658" y="571500"/>
            <a:ext cx="5470683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F3F0DF"/>
                </a:solidFill>
                <a:latin typeface="Merriweather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0912" y="1847850"/>
            <a:ext cx="52101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500">
                <a:latin typeface="DM Sans"/>
              </a:rPr>
              <a:t>Thank you for exploring QureFlow.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0912" y="2598390"/>
            <a:ext cx="521017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1CAA0"/>
                </a:solidFill>
                <a:latin typeface="DM Sans"/>
              </a:rPr>
              <a:t>www.qureflow.cloud | support@qureflow.com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AF3F2-7B5F-9647-0AB1-84ABF9DD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14512" y="1508075"/>
            <a:ext cx="85629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14512" y="2292846"/>
            <a:ext cx="85629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14512" y="3077616"/>
            <a:ext cx="85629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14512" y="3862387"/>
            <a:ext cx="85629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14512" y="4647158"/>
            <a:ext cx="85629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4512" y="2283321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14512" y="2283321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14512" y="3068091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4512" y="3068091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4512" y="3852862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14512" y="3852862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14512" y="4637633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14512" y="4637633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4512" y="5422403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14512" y="5422403"/>
            <a:ext cx="85629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165749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09887" y="1650950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https://www.ads.org.uk/sites/default/files/2022-06/stratheden-ipcu-exterior-entrance-large-2017-Nigel-Rigden.jpg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887" y="1896665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www.ads.org.uk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12" y="244226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09887" y="2435721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https://legacy.freerangestock.com/sample/110062/cloud-computing---cloud-infrastructure---abstract-background---d.jpg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9887" y="2681436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freerangestock.com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2" y="322704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09887" y="3220491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https://images.pixeden.com/images/app-ui-presentation-psd-mockup-hand-holding-smartphone_full_preview_retina.jpg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9887" y="3466207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www.pixeden.com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512" y="401181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09887" y="4005262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https://anvil.works/forum/uploads/default/optimized/1X/d04df53393aad88c80b91a0aa5c79d3363a8eb2c_2_1024x628.jpeg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9887" y="4250977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anvil.works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512" y="4796581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09887" y="4790033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https://frontiertech.niti.gov.in/wp-content/uploads/2025/06/medical-banner-with-doctor-wearing-gloves-6-3.jpg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9887" y="5035748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frontiertech.niti.gov.in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4512" y="558135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09887" y="5574803"/>
            <a:ext cx="74676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https://www.savanceworkplace.com/wp-content/uploads/hospital-digital-waiting-room-display-hipaa-compliant-wall-scene.png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9887" y="5820519"/>
            <a:ext cx="74676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www.savanceworkplace.com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AA4735D-5FA7-8495-B4E7-5D84F28D6C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7832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5088"/>
                </a:solidFill>
                <a:latin typeface="Merriweath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81162" y="3077616"/>
            <a:ext cx="88296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81162" y="3852862"/>
            <a:ext cx="88296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81162" y="3852862"/>
            <a:ext cx="88296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322704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76537" y="3121446"/>
            <a:ext cx="77343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https://img.magnific.com/premium-vector/cloud-storage-internet-database-data-security-concept-flat-illustration_720185-3934.jpg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6537" y="3466207"/>
            <a:ext cx="77343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www.magnific.com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2" y="401181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76537" y="4005262"/>
            <a:ext cx="77343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3333"/>
                </a:solidFill>
                <a:latin typeface="DM Sans"/>
              </a:rPr>
              <a:t>https://ihm.edu.au/wp-content/uploads/2026/04/smiling-caretaker-male-pensioner-focused-reading-news.jpg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6537" y="4250977"/>
            <a:ext cx="77343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3333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ihm.edu.au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84C757-FAA1-2287-7BC1-B6F59D48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-1"/>
            <a:ext cx="1504950" cy="14017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1353</Words>
  <Application>Microsoft Office PowerPoint</Application>
  <PresentationFormat>Widescreen</PresentationFormat>
  <Paragraphs>146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DM Sans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Shaurya Shah</dc:creator>
  <cp:keywords/>
  <dc:description>generated using python-pptx</dc:description>
  <cp:lastModifiedBy>Shaurya Shah</cp:lastModifiedBy>
  <cp:revision>7</cp:revision>
  <dcterms:created xsi:type="dcterms:W3CDTF">2013-01-27T09:14:16Z</dcterms:created>
  <dcterms:modified xsi:type="dcterms:W3CDTF">2026-09-23T03:07:06Z</dcterms:modified>
  <cp:category/>
</cp:coreProperties>
</file>